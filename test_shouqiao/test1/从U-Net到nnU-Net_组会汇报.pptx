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2000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00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8737" y="12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4000" b="1">
                <a:solidFill>
                  <a:srgbClr val="1A1A2E"/>
                </a:solidFill>
                <a:latin typeface="微软雅黑"/>
              </a:defRPr>
            </a:pPr>
            <a:r>
              <a:t>从 U-Net 到 nnU-Net</a:t>
              <a:rPr>
                <a:ea typeface="微软雅黑"/>
              </a:rPr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737" y="20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666666"/>
                </a:solidFill>
                <a:latin typeface="微软雅黑"/>
              </a:defRPr>
            </a:pPr>
            <a:r>
              <a:t>医学图像分割的标准化流水线</a:t>
              <a:rPr>
                <a:ea typeface="微软雅黑"/>
              </a:rPr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737" y="36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组会学术汇报  |  2025年4月17日</a:t>
              <a:rPr>
                <a:ea typeface="微软雅黑"/>
              </a:rPr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00000"/>
            <a:ext cx="12192000" cy="358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3667E8"/>
                </a:solidFill>
                <a:latin typeface="Century Gothic"/>
              </a:defRPr>
            </a:pPr>
            <a:r>
              <a:t>CONTENT</a:t>
              <a:rPr>
                <a:ea typeface="Century Gothic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55445" y="145415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5445" y="225415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01</a:t>
              <a:rPr>
                <a:ea typeface="Century Gothic"/>
              </a:rPr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5445" y="295415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U-Net 回顾与缺陷</a:t>
              <a:rPr>
                <a:ea typeface="微软雅黑"/>
              </a:rPr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2315" y="145415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2315" y="225415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02</a:t>
              <a:rPr>
                <a:ea typeface="Century Gothic"/>
              </a:rPr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315" y="295415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nnU-Net 提出动机</a:t>
              <a:rPr>
                <a:ea typeface="微软雅黑"/>
              </a:rPr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9820" y="145415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9820" y="225415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03</a:t>
              <a:rPr>
                <a:ea typeface="Century Gothic"/>
              </a:rPr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820" y="295415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网络架构微操</a:t>
              <a:rPr>
                <a:ea typeface="微软雅黑"/>
              </a:rPr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5445" y="396621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5445" y="476621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04</a:t>
              <a:rPr>
                <a:ea typeface="Century Gothic"/>
              </a:rPr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5445" y="546621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动态自适应机制</a:t>
              <a:rPr>
                <a:ea typeface="微软雅黑"/>
              </a:rPr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2315" y="396621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2315" y="476621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05</a:t>
              <a:rPr>
                <a:ea typeface="Century Gothic"/>
              </a:rPr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2315" y="546621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训练策略与后处理</a:t>
              <a:rPr>
                <a:ea typeface="微软雅黑"/>
              </a:rPr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9820" y="3966210"/>
            <a:ext cx="2897505" cy="25120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9820" y="4766210"/>
            <a:ext cx="1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3667E8"/>
                </a:solidFill>
                <a:latin typeface="Century Gothic"/>
              </a:defRPr>
            </a:pPr>
            <a:r>
              <a:t>06</a:t>
              <a:rPr>
                <a:ea typeface="Century Gothic"/>
              </a:rPr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9820" y="546621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级联架构与实验总结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3855" y="1968500"/>
            <a:ext cx="6384290" cy="100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3667E8"/>
                </a:solidFill>
                <a:latin typeface="Century Gothic"/>
              </a:defRPr>
            </a:pPr>
            <a:r>
              <a:t>01</a:t>
              <a:rPr>
                <a:ea typeface="Century Gothic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6395" y="3159125"/>
            <a:ext cx="638429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U-Net 回顾与缺陷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1051687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A1A2E"/>
                </a:solidFill>
                <a:latin typeface="微软雅黑"/>
              </a:defRPr>
            </a:pPr>
            <a:r>
              <a:t>U-Net 回顾与缺陷</a:t>
              <a:rPr>
                <a:ea typeface="微软雅黑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1100000"/>
            <a:ext cx="5600000" cy="52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5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3667E8"/>
                </a:solidFill>
                <a:latin typeface="微软雅黑"/>
              </a:defRPr>
            </a:pPr>
            <a:r>
              <a:t>U-Net 经典贡献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• U 型对称结构（编码器-解码器）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• 跳跃连接融合底层细节与高层语义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• 数据增强驱动，少量标注即可训练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• 医学图像分割的奠基之作</a:t>
              <a:rPr>
                <a:ea typeface="微软雅黑"/>
              </a:rPr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100000"/>
            <a:ext cx="5700000" cy="5200000"/>
          </a:xfrm>
          <a:prstGeom prst="roundRect">
            <a:avLst/>
          </a:prstGeom>
          <a:solidFill>
            <a:srgbClr val="FCE4E4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25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C62828"/>
                </a:solidFill>
                <a:latin typeface="微软雅黑"/>
              </a:defRPr>
            </a:pPr>
            <a:r>
              <a:t>原始 U-Net 的局限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❶ 空间维度灾难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    2D 看不到 Z 轴；3D 撑爆显存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❷ 数据特性鸿沟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    CT(HU 值) vs MRI(相对亮度) 一刀切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❸ 静态模型，无法自适应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❹ 效果不好就魔改网络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    忽略预处理和超参数调优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3855" y="1968500"/>
            <a:ext cx="6384290" cy="100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3667E8"/>
                </a:solidFill>
                <a:latin typeface="Century Gothic"/>
              </a:defRPr>
            </a:pPr>
            <a:r>
              <a:t>02</a:t>
              <a:rPr>
                <a:ea typeface="Century Gothic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6395" y="3159125"/>
            <a:ext cx="638429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nnU-Net 提出动机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1051687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A1A2E"/>
                </a:solidFill>
                <a:latin typeface="微软雅黑"/>
              </a:defRPr>
            </a:pPr>
            <a:r>
              <a:t>nnU-Net：no-new-Net 理念</a:t>
              <a:rPr>
                <a:ea typeface="微软雅黑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1100000"/>
            <a:ext cx="11400000" cy="14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3667E8"/>
                </a:solidFill>
                <a:latin typeface="微软雅黑"/>
              </a:defRPr>
            </a:pPr>
            <a:r>
              <a:t>核心思想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一个没有任何花哨模块的最基础 U-Net，只要把数据预处理、网络拓扑生成、训练策略和推理后处理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做到极致，就能在 MSD 十项全能挑战赛中打败所有当时最先进的魔改网络。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3667E8"/>
                </a:solidFill>
                <a:latin typeface="微软雅黑"/>
              </a:defRPr>
            </a:pPr>
            <a:r>
              <a:t>→ 把深度学习变成标准化的工业流水线</a:t>
              <a:rPr>
                <a:ea typeface="微软雅黑"/>
              </a:rPr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2800000"/>
            <a:ext cx="2720000" cy="34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00" y="2950000"/>
            <a:ext cx="400000" cy="400000"/>
          </a:xfrm>
          <a:prstGeom prst="round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29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1</a:t>
              <a:rPr>
                <a:ea typeface="Century Gothic"/>
              </a:rPr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98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667E8"/>
                </a:solidFill>
                <a:latin typeface="微软雅黑"/>
              </a:defRPr>
            </a:pPr>
            <a:r>
              <a:t>数据预处理</a:t>
              <a:rPr>
                <a:ea typeface="微软雅黑"/>
              </a:rPr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3600000"/>
            <a:ext cx="2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自动分析分辨率、大小、</a:t>
              <a:rPr>
                <a:ea typeface="微软雅黑"/>
              </a:rPr>
            </a:r>
            <a:br/>
            <a:r>
              <a:t>强度分布，针对性归一化</a:t>
              <a:rPr>
                <a:ea typeface="微软雅黑"/>
              </a:rPr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0000" y="2800000"/>
            <a:ext cx="2720000" cy="34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20000" y="2950000"/>
            <a:ext cx="400000" cy="4000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0000" y="29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2</a:t>
              <a:rPr>
                <a:ea typeface="Century Gothic"/>
              </a:rPr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0000" y="298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0897B"/>
                </a:solidFill>
                <a:latin typeface="微软雅黑"/>
              </a:defRPr>
            </a:pPr>
            <a:r>
              <a:t>网络拓扑生成</a:t>
              <a:rPr>
                <a:ea typeface="微软雅黑"/>
              </a:rPr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0000" y="3600000"/>
            <a:ext cx="2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根据显存与图像大小</a:t>
              <a:rPr>
                <a:ea typeface="微软雅黑"/>
              </a:rPr>
            </a:r>
            <a:br/>
            <a:r>
              <a:t>自动推导 Patch 与深度</a:t>
              <a:rPr>
                <a:ea typeface="微软雅黑"/>
              </a:rPr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000" y="2800000"/>
            <a:ext cx="2720000" cy="34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000" y="2950000"/>
            <a:ext cx="400000" cy="4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000" y="29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3</a:t>
              <a:rPr>
                <a:ea typeface="Century Gothic"/>
              </a:rPr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0000" y="298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训练策略</a:t>
              <a:rPr>
                <a:ea typeface="微软雅黑"/>
              </a:rPr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0000" y="3600000"/>
            <a:ext cx="2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Dice+CE 组合损失</a:t>
              <a:rPr>
                <a:ea typeface="微软雅黑"/>
              </a:rPr>
            </a:r>
            <a:br/>
            <a:r>
              <a:t>动态调整超参数</a:t>
              <a:rPr>
                <a:ea typeface="微软雅黑"/>
              </a:rPr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0000" y="2800000"/>
            <a:ext cx="2720000" cy="34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60000" y="2950000"/>
            <a:ext cx="400000" cy="40000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0000" y="29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  <a:latin typeface="Century Gothic"/>
              </a:defRPr>
            </a:pPr>
            <a:r>
              <a:t>4</a:t>
              <a:rPr>
                <a:ea typeface="Century Gothic"/>
              </a:rPr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0000" y="298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7B2D8B"/>
                </a:solidFill>
                <a:latin typeface="微软雅黑"/>
              </a:defRPr>
            </a:pPr>
            <a:r>
              <a:t>推理后处理</a:t>
              <a:rPr>
                <a:ea typeface="微软雅黑"/>
              </a:rPr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0000" y="3600000"/>
            <a:ext cx="24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重叠滑窗 + 高斯加权</a:t>
              <a:rPr>
                <a:ea typeface="微软雅黑"/>
              </a:rPr>
            </a:r>
            <a:br/>
            <a:r>
              <a:t>+ 连通域清洗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3855" y="1968500"/>
            <a:ext cx="6384290" cy="100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3667E8"/>
                </a:solidFill>
                <a:latin typeface="Century Gothic"/>
              </a:defRPr>
            </a:pPr>
            <a:r>
              <a:t>03</a:t>
              <a:rPr>
                <a:ea typeface="Century Gothic"/>
              </a:rPr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6395" y="3159125"/>
            <a:ext cx="638429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网络架构微操与动态自适应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1051687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A1A2E"/>
                </a:solidFill>
                <a:latin typeface="微软雅黑"/>
              </a:defRPr>
            </a:pPr>
            <a:r>
              <a:t>网络架构的『微操』与『变形』</a:t>
              <a:rPr>
                <a:ea typeface="微软雅黑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1300000"/>
            <a:ext cx="3720000" cy="50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15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3667E8"/>
                </a:solidFill>
                <a:latin typeface="微软雅黑"/>
              </a:defRPr>
            </a:pPr>
            <a:r>
              <a:t>01  ReLU → Leaky ReLU</a:t>
              <a:rPr>
                <a:ea typeface="微软雅黑"/>
              </a:rPr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2200000"/>
            <a:ext cx="34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原始 U-Net 初始化精妙，Dying ReLU</a:t>
              <a:rPr>
                <a:ea typeface="微软雅黑"/>
              </a:rPr>
            </a:r>
            <a:br/>
            <a:r>
              <a:t>不严重。但 nnU-Net 通杀所有医学图像，</a:t>
              <a:rPr>
                <a:ea typeface="微软雅黑"/>
              </a:rPr>
            </a:r>
            <a:br/>
            <a:r>
              <a:t>面对低对比度数据时易出现大量</a:t>
              <a:rPr>
                <a:ea typeface="微软雅黑"/>
              </a:rPr>
            </a:r>
            <a:br/>
            <a:r>
              <a:t>神经元进入负区间，需 Leaky ReLU</a:t>
              <a:rPr>
                <a:ea typeface="微软雅黑"/>
              </a:rPr>
            </a:r>
            <a:br/>
            <a:r>
              <a:t>让负区间仍有梯度流动。</a:t>
              <a:rPr>
                <a:ea typeface="微软雅黑"/>
              </a:rPr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0000" y="1300000"/>
            <a:ext cx="3720000" cy="50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000" y="15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0897B"/>
                </a:solidFill>
                <a:latin typeface="微软雅黑"/>
              </a:defRPr>
            </a:pPr>
            <a:r>
              <a:t>02  BN → Instance Norm</a:t>
              <a:rPr>
                <a:ea typeface="微软雅黑"/>
              </a:rPr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000" y="2200000"/>
            <a:ext cx="34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3D 训练时 Batch Size 极小（通常 2），</a:t>
              <a:rPr>
                <a:ea typeface="微软雅黑"/>
              </a:rPr>
            </a:r>
            <a:br/>
            <a:r>
              <a:t>BN 统计量崩溃。Instance Norm 对</a:t>
              <a:rPr>
                <a:ea typeface="微软雅黑"/>
              </a:rPr>
            </a:r>
            <a:br/>
            <a:r>
              <a:t>单个三维块归一化，不受 batch size</a:t>
              <a:rPr>
                <a:ea typeface="微软雅黑"/>
              </a:rPr>
            </a:r>
            <a:br/>
            <a:r>
              <a:t>影响，适合 3D 医疗图像训练。</a:t>
              <a:rPr>
                <a:ea typeface="微软雅黑"/>
              </a:rPr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0000" y="1300000"/>
            <a:ext cx="3720000" cy="50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000" y="15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03  三种自适应形态</a:t>
              <a:rPr>
                <a:ea typeface="微软雅黑"/>
              </a:rPr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00" y="2200000"/>
            <a:ext cx="34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▸ 2D U-Net：适合薄层切片</a:t>
              <a:rPr>
                <a:ea typeface="微软雅黑"/>
              </a:rPr>
            </a:r>
            <a:br/>
            <a:r>
              <a:t>▸ 3D U-Net：适合各向同性体数据</a:t>
              <a:rPr>
                <a:ea typeface="微软雅黑"/>
              </a:rPr>
            </a:r>
            <a:br/>
            <a:r>
              <a:t>▸ 3D U-Net Cascade：适合大图像</a:t>
              <a:rPr>
                <a:ea typeface="微软雅黑"/>
              </a:rPr>
            </a:r>
            <a:br/>
            <a:r>
              <a:t>+ 高精度需求（低分辨率全局 +</a:t>
              <a:rPr>
                <a:ea typeface="微软雅黑"/>
              </a:rPr>
            </a:r>
            <a:br/>
            <a:r>
              <a:t>高分辨率局部）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1051687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A1A2E"/>
                </a:solidFill>
                <a:latin typeface="微软雅黑"/>
              </a:defRPr>
            </a:pPr>
            <a:r>
              <a:t>训练策略与后处理</a:t>
              <a:rPr>
                <a:ea typeface="微软雅黑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1100000"/>
            <a:ext cx="5600000" cy="52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5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3667E8"/>
                </a:solidFill>
                <a:latin typeface="微软雅黑"/>
              </a:defRPr>
            </a:pPr>
            <a:r>
              <a:t>组合损失函数：Dice + Cross Entropy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2E7D32"/>
                </a:solidFill>
                <a:latin typeface="微软雅黑"/>
              </a:defRPr>
            </a:pPr>
            <a:r>
              <a:t>Dice Loss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衡量预测区域与真实区域的重合度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整体性全局监督，天生抗不平衡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适合小目标分割（如血管）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C62828"/>
                </a:solidFill>
                <a:latin typeface="微软雅黑"/>
              </a:defRPr>
            </a:pPr>
            <a:r>
              <a:t>Cross Entropy Loss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逐像素分类监督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训练稳定，收敛平滑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但偏向背景，前景过小时被主导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667E8"/>
                </a:solidFill>
                <a:latin typeface="微软雅黑"/>
              </a:defRPr>
            </a:pPr>
            <a:r>
              <a:t>二者互补 → 分割精度显著提升</a:t>
              <a:rPr>
                <a:ea typeface="微软雅黑"/>
              </a:rPr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100000"/>
            <a:ext cx="5700000" cy="520000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25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/>
              </a:defRPr>
            </a:pPr>
            <a:r>
              <a:t>推理后处理三件套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① 50% 重叠滑窗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前一个块的边缘 = 后一个块的中心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中心视野好，预测精度极高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0897B"/>
                </a:solidFill>
                <a:latin typeface="微软雅黑"/>
              </a:defRPr>
            </a:pPr>
            <a:r>
              <a:t>② 高斯加权融合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中心高权重(~0.99)、边缘低权重(~0.05)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用自信区域覆盖边缘误差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7B2D8B"/>
                </a:solidFill>
                <a:latin typeface="微软雅黑"/>
              </a:defRPr>
            </a:pPr>
            <a:r>
              <a:t>③ 连通域后处理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保留最大连通域，消除孤立噪点块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075" y="179705"/>
            <a:ext cx="1051687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1A1A2E"/>
                </a:solidFill>
                <a:latin typeface="微软雅黑"/>
              </a:defRPr>
            </a:pPr>
            <a:r>
              <a:t>级联架构 (Cascade) 与实验总结</a:t>
              <a:rPr>
                <a:ea typeface="微软雅黑"/>
              </a:rPr>
            </a:r>
          </a:p>
        </p:txBody>
      </p:sp>
      <p:sp>
        <p:nvSpPr>
          <p:cNvPr id="4" name="Rectangle 3"/>
          <p:cNvSpPr/>
          <p:nvPr/>
        </p:nvSpPr>
        <p:spPr>
          <a:xfrm>
            <a:off x="92075" y="780000"/>
            <a:ext cx="2000000" cy="35000"/>
          </a:xfrm>
          <a:prstGeom prst="rect">
            <a:avLst/>
          </a:prstGeom>
          <a:solidFill>
            <a:srgbClr val="3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000" y="1100000"/>
            <a:ext cx="5600000" cy="5200000"/>
          </a:xfrm>
          <a:prstGeom prst="roundRect">
            <a:avLst/>
          </a:prstGeom>
          <a:solidFill>
            <a:srgbClr val="F0F4FC"/>
          </a:solidFill>
          <a:ln w="19050">
            <a:solidFill>
              <a:srgbClr val="3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25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3667E8"/>
                </a:solidFill>
                <a:latin typeface="微软雅黑"/>
              </a:defRPr>
            </a:pPr>
            <a:r>
              <a:t>3D U-Net Cascade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0897B"/>
                </a:solidFill>
                <a:latin typeface="微软雅黑"/>
              </a:defRPr>
            </a:pPr>
            <a:r>
              <a:t>Stage 1：低分辨率全局定位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原始高清图降采样 → 看全局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输出『粗略导航地图』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67E22"/>
                </a:solidFill>
                <a:latin typeface="微软雅黑"/>
              </a:defRPr>
            </a:pPr>
            <a:r>
              <a:t>Stage 2：高分辨率局部精细分割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高清 Patch + Stage1 导航图拼接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• 双重输入 → 精密局部分割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类比：远处看全景 → 近处放大镜+ GPS</a:t>
              <a:rPr>
                <a:ea typeface="微软雅黑"/>
              </a:rPr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0" y="1100000"/>
            <a:ext cx="5700000" cy="52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0" y="125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MSD 结果与总结启示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1A1A2E"/>
                </a:solidFill>
                <a:latin typeface="微软雅黑"/>
              </a:defRPr>
            </a:pPr>
            <a:r>
              <a:t>MSD 十项全能挑战赛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nnU-Net 以全自动最基础 U-Net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击败所有当时最先进魔改网络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E7D32"/>
                </a:solidFill>
                <a:latin typeface="微软雅黑"/>
              </a:defRPr>
            </a:pPr>
            <a:r>
              <a:t>启示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❶ 效果不好 ≠ 网络不够先进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❷ 先检查数据重采样 / 归一化 / Patch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❸ 底层工程做到极致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❹ 建立坚如磐石的 Baseline</a:t>
              <a:rPr>
                <a:ea typeface="微软雅黑"/>
              </a:rPr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2E"/>
                </a:solidFill>
                <a:latin typeface="微软雅黑"/>
              </a:defRPr>
            </a:pPr>
            <a:r>
              <a:t>❺ 工程 &gt; 魔改</a:t>
              <a:rPr>
                <a:ea typeface="微软雅黑"/>
              </a:rPr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